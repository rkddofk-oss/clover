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5" Type="http://schemas.openxmlformats.org/officeDocument/2006/relationships/viewProps" Target="viewProps.xml" /><Relationship Id="rId24" Type="http://schemas.openxmlformats.org/officeDocument/2006/relationships/presProps" Target="presProps.xml" /><Relationship Id="rId1" Type="http://schemas.openxmlformats.org/officeDocument/2006/relationships/slideMaster" Target="slideMasters/slideMaster1.xml" /><Relationship Id="rId27" Type="http://schemas.openxmlformats.org/officeDocument/2006/relationships/tableStyles" Target="tableStyles.xml" /><Relationship Id="rId2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제시된 정보를 바탕으로 명동 및 인근 지역의 여행 코스, 먹거리, 명소 및 각종 팁을 집대성한 </a:t>
            </a:r>
            <a:r>
              <a:rPr b="1"/>
              <a:t>20페이지 분량의 마크다운 슬라이드 요약</a:t>
            </a:r>
            <a:r>
              <a:rPr/>
              <a:t>을 작성해 드립니다. 각 페이지는 요청하신 형식을 엄격히 준수합니다.</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 2025 명동 도심 여행 가이드 개요</a:t>
            </a:r>
          </a:p>
        </p:txBody>
      </p:sp>
      <p:sp>
        <p:nvSpPr>
          <p:cNvPr id="3" name="Content Placeholder 2"/>
          <p:cNvSpPr>
            <a:spLocks noGrp="1"/>
          </p:cNvSpPr>
          <p:nvPr>
            <p:ph idx="1"/>
          </p:nvPr>
        </p:nvSpPr>
        <p:spPr/>
        <p:txBody>
          <a:bodyPr/>
          <a:lstStyle/>
          <a:p>
            <a:pPr lvl="0" indent="0" marL="0">
              <a:buNone/>
            </a:pPr>
            <a:r>
              <a:rPr/>
              <a:t>서울의 심장부인 명동은 단순한 쇼핑가를 넘어 세계적인 미식과 예술, 역사가 공존하는 복합 문화 공간입니다. 이번 가이드는 오전 11시부터 오후 6시 30분까지 이어지는 세밀한 여행 동선과 명동의 랜드마크인 성당, 백화점 미디어파사드, 그리고 필수 길거리 음식을 총망라하여 구성하였습니다. 특히 30분 단위의 효율적인 시간 관리 전략을 통해 짧은 시간 내에 종로와 을지로를 포함한 핵심 스팟을 모두 섭렵하는 실전 노하우를 제공합니다.</a:t>
            </a:r>
          </a:p>
          <a:p>
            <a:pPr lvl="0"/>
            <a:r>
              <a:rPr b="1"/>
              <a:t>글로벌 미식의 성지인 명동 거리의 역동적인 에너지를 한눈에 파악할 수 있는 종합 가이드 구성</a:t>
            </a:r>
          </a:p>
          <a:p>
            <a:pPr lvl="0"/>
            <a:r>
              <a:rPr b="1"/>
              <a:t>오전부터 저녁까지 이어지는 타이트한 일정 관리를 통해 여행의 효율성을 극대화하는 전략적 접근</a:t>
            </a:r>
          </a:p>
          <a:p>
            <a:pPr lvl="0"/>
            <a:r>
              <a:rPr b="1"/>
              <a:t>쇼핑과 문화, 역사적 명소를 조화롭게 배치하여 다채로운 경험을 선사하는 최적화된 동선 설계</a:t>
            </a:r>
          </a:p>
          <a:p>
            <a:pPr lvl="0"/>
            <a:r>
              <a:rPr b="1"/>
              <a:t>최신 트렌드를 반영한 2025년 버전의 놀거리와 크리스마스 시즌 한정 정보를 상세히 수록함</a:t>
            </a:r>
          </a:p>
          <a:p>
            <a:pPr lvl="0"/>
            <a:r>
              <a:rPr b="1"/>
              <a:t>실제 방문객들의 피드백과 현지 팁을 바탕으로 실질적인 도움이 되는 여행 정보를 명시함</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2] 여행 전략: 30분의 법칙과 이동 효율성</a:t>
            </a:r>
          </a:p>
        </p:txBody>
      </p:sp>
      <p:sp>
        <p:nvSpPr>
          <p:cNvPr id="3" name="Content Placeholder 2"/>
          <p:cNvSpPr>
            <a:spLocks noGrp="1"/>
          </p:cNvSpPr>
          <p:nvPr>
            <p:ph idx="1"/>
          </p:nvPr>
        </p:nvSpPr>
        <p:spPr/>
        <p:txBody>
          <a:bodyPr/>
          <a:lstStyle/>
          <a:p>
            <a:pPr lvl="0" indent="0" marL="0">
              <a:buNone/>
            </a:pPr>
            <a:r>
              <a:rPr/>
              <a:t>명동과 을지로 일대는 볼거리가 밀집되어 있어 한 장소에 오래 머물기보다 빠르게 순환하는 전략이 유효합니다. 각 장소의 체류 시간을 최대 30분으로 제한함으로써 하루 동안 15개 이상의 명소를 경험할 수 있는 ’고효율 투어’가 가능해집니다. 대중교통 이용을 원칙으로 하되, 장거리 이동 시에는 시간을 절약할 수 있는 최적의 교통수단을 선택하는 것이 이번 여정의 핵심입니다.</a:t>
            </a:r>
          </a:p>
          <a:p>
            <a:pPr lvl="0" indent="0" marL="0">
              <a:buNone/>
            </a:pPr>
            <a:r>
              <a:rPr b="1"/>
              <a:t>[시각화: 이동 효율 비교]</a:t>
            </a:r>
            <a:r>
              <a:rPr/>
              <a:t> - 도보 이동: 명동 내 근거리 스팟 연결 (최상) - 지하철: 을지로-종로-회현역 연결 (우수) - 주차: 공영 및 백화점 앱 활용 (필수 선택)</a:t>
            </a:r>
          </a:p>
          <a:p>
            <a:pPr lvl="0"/>
            <a:r>
              <a:rPr b="1"/>
              <a:t>모든 장소의 체류 시간을 최대 30분으로 설정하여 단시간 내에 다양한 문화를 섭렵하는 운영 원칙</a:t>
            </a:r>
          </a:p>
          <a:p>
            <a:pPr lvl="0"/>
            <a:r>
              <a:rPr b="1"/>
              <a:t>명동역과 을지로입구역을 중심으로 한 사통팔달의 지리적 이점을 활용한 보행 위주의 동선 관리</a:t>
            </a:r>
          </a:p>
          <a:p>
            <a:pPr lvl="0"/>
            <a:r>
              <a:rPr b="1"/>
              <a:t>대중교통 이용을 권장하며 주차 시에는 사전 앱 등록을 통해 불필요한 대기 시간을 획기적으로 단축함</a:t>
            </a:r>
          </a:p>
          <a:p>
            <a:pPr lvl="0"/>
            <a:r>
              <a:rPr b="1"/>
              <a:t>혼잡도가 높은 시간대를 피해 핵심 명소를 배치함으로써 인파에 의한 피로도를 최소화하는 일정 설계</a:t>
            </a:r>
          </a:p>
          <a:p>
            <a:pPr lvl="0"/>
            <a:r>
              <a:rPr b="1"/>
              <a:t>각 스팟 간의 이동 거리를 사전 계산하여 불필요한 동선 낭비를 차단하고 여행의 밀도를 높이는 방식</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3] 오전 일정: 예술과 쇼핑의 서막 (11:00-12:00)</a:t>
            </a:r>
          </a:p>
        </p:txBody>
      </p:sp>
      <p:sp>
        <p:nvSpPr>
          <p:cNvPr id="3" name="Content Placeholder 2"/>
          <p:cNvSpPr>
            <a:spLocks noGrp="1"/>
          </p:cNvSpPr>
          <p:nvPr>
            <p:ph idx="1"/>
          </p:nvPr>
        </p:nvSpPr>
        <p:spPr/>
        <p:txBody>
          <a:bodyPr/>
          <a:lstStyle/>
          <a:p>
            <a:pPr lvl="0" indent="0" marL="0">
              <a:buNone/>
            </a:pPr>
            <a:r>
              <a:rPr/>
              <a:t>본격적인 여행은 롯데백화점 본점 에비뉴엘 9층의 ’그라운드시소 명동’에서 시작됩니다. 이곳에서는 반 고흐의 삶을 투영한 몰입형 미디어 아트 전시를 통해 감각적인 예술 경험을 선사하며, 전시 관람 후 굿즈샵에서 유니크한 기념품을 득템할 수 있습니다. 이후 롯데 타운의 화려한 크리스마스 장식을 관람하며 명동의 겨울 분위기에 흠뻑 젖어보는 시간을 가집니다.</a:t>
            </a:r>
          </a:p>
          <a:p>
            <a:pPr lvl="0" indent="0" marL="0">
              <a:buNone/>
            </a:pPr>
            <a:r>
              <a:rPr b="1"/>
              <a:t>[Table 1: 오전 스팟 정보]</a:t>
            </a:r>
            <a:r>
              <a:rPr/>
              <a:t> | 장소 | 위치 | 활동 | 비고 | | :— | :— | :— | :— | | 그라운드시소 | 에비뉴엘 9F | 미디어 아트 관람 | 예약 권장 | | 롯데 타운 | 백화점 외곽 | 크리스마스 장식 관람 | 포토존 다수 |</a:t>
            </a:r>
          </a:p>
          <a:p>
            <a:pPr lvl="0"/>
            <a:r>
              <a:rPr b="1"/>
              <a:t>그라운드시소 명동에서 펼쳐지는 몰입형 미디어 전시를 통해 예술적 감수성을 깨우는 오전 활동</a:t>
            </a:r>
          </a:p>
          <a:p>
            <a:pPr lvl="0"/>
            <a:r>
              <a:rPr b="1"/>
              <a:t>러닝타임 50분의 전시를 핵심 위주로 관람하며 시간을 관리하고 굿즈샵의 희귀 아이템을 탐색함</a:t>
            </a:r>
          </a:p>
          <a:p>
            <a:pPr lvl="0"/>
            <a:r>
              <a:rPr b="1"/>
              <a:t>롯데백화점 본점의 ’크리스마스 인 롯데 타운’에서 연말 특유의 설렘 가득한 분위기를 조기에 만끽함</a:t>
            </a:r>
          </a:p>
          <a:p>
            <a:pPr lvl="0"/>
            <a:r>
              <a:rPr b="1"/>
              <a:t>에비뉴엘 빌딩의 세련된 인테리어와 외벽 장식을 배경으로 고퀄리티의 인증샷을 남기는 미션 수행</a:t>
            </a:r>
          </a:p>
          <a:p>
            <a:pPr lvl="0"/>
            <a:r>
              <a:rPr b="1"/>
              <a:t>다음 장소인 명동 메인 거리로 이동하기 전 효율적인 동선 확인을 통해 보행 시간을 최적화함</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4] 12:30 점심 미션: 명동 길거리 미식 투어</a:t>
            </a:r>
          </a:p>
        </p:txBody>
      </p:sp>
      <p:sp>
        <p:nvSpPr>
          <p:cNvPr id="3" name="Content Placeholder 2"/>
          <p:cNvSpPr>
            <a:spLocks noGrp="1"/>
          </p:cNvSpPr>
          <p:nvPr>
            <p:ph idx="1"/>
          </p:nvPr>
        </p:nvSpPr>
        <p:spPr/>
        <p:txBody>
          <a:bodyPr/>
          <a:lstStyle/>
          <a:p>
            <a:pPr lvl="0" indent="0" marL="0">
              <a:buNone/>
            </a:pPr>
            <a:r>
              <a:rPr/>
              <a:t>점심 식사는 명동의 상징인 길거리 음식으로 해결합니다. 이번 여정에서는 식사를 단 1회로 제한하므로, 메인 거리의 다양한 노점을 돌며 효율적으로 영양을 섭취해야 합니다. 떡볶이와 튀김, 그리고 중독성 강한 마약김밥을 조합하여 짧은 시간 내에 명동의 진한 맛을 경험하는 것이 핵심 전략입니다.</a:t>
            </a:r>
          </a:p>
          <a:p>
            <a:pPr lvl="0" indent="0" marL="0">
              <a:buNone/>
            </a:pPr>
            <a:r>
              <a:rPr b="1"/>
              <a:t>[시각화: 점심 메뉴 조합 추천]</a:t>
            </a:r>
            <a:r>
              <a:rPr/>
              <a:t> - 매콤: 떡볶이 (고추장 베이스) - 고소: 튀김 (오징어, 새우) - 든든: 마약김밥 (겨자 소스)</a:t>
            </a:r>
          </a:p>
          <a:p>
            <a:pPr lvl="0"/>
            <a:r>
              <a:rPr b="1"/>
              <a:t>명동 메인 거리의 수많은 노점 중 현지인과 관광객에게 검증된 인기 맛집을 골라 빠르게 방문함</a:t>
            </a:r>
          </a:p>
          <a:p>
            <a:pPr lvl="0"/>
            <a:r>
              <a:rPr b="1"/>
              <a:t>한정된 식사 기회를 최대한 활용하기 위해 여러 메뉴를 조금씩 맛보는 전략적 미식 활동 전개</a:t>
            </a:r>
          </a:p>
          <a:p>
            <a:pPr lvl="0"/>
            <a:r>
              <a:rPr b="1"/>
              <a:t>매콤달콤한 떡볶이 소스에 바삭한 튀김을 찍어 먹는 정통 방식을 통해 한국 길거리 음식의 진수 체험</a:t>
            </a:r>
          </a:p>
          <a:p>
            <a:pPr lvl="0"/>
            <a:r>
              <a:rPr b="1"/>
              <a:t>휴대가 간편하고 포만감이 높은 김밥을 식단에 포함하여 오후 일정에 필요한 충분한 에너지를 보충함</a:t>
            </a:r>
          </a:p>
          <a:p>
            <a:pPr lvl="0"/>
            <a:r>
              <a:rPr b="1"/>
              <a:t>상인들의 숙련된 조리 과정을 지켜보며 시각과 후각을 동시에 자족시키는 입체적인 점심 시간 운영</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5] 길거리 음식 1: 달콤한 유혹 (호떡 &amp; 붕어빵)</a:t>
            </a:r>
          </a:p>
        </p:txBody>
      </p:sp>
      <p:sp>
        <p:nvSpPr>
          <p:cNvPr id="3" name="Content Placeholder 2"/>
          <p:cNvSpPr>
            <a:spLocks noGrp="1"/>
          </p:cNvSpPr>
          <p:nvPr>
            <p:ph idx="1"/>
          </p:nvPr>
        </p:nvSpPr>
        <p:spPr/>
        <p:txBody>
          <a:bodyPr/>
          <a:lstStyle/>
          <a:p>
            <a:pPr lvl="0" indent="0" marL="0">
              <a:buNone/>
            </a:pPr>
            <a:r>
              <a:rPr/>
              <a:t>추운 날씨에 더욱 빛을 발하는 호떡과 붕어빵은 명동 여행의 필수 디저트입니다. 호떡은 쫄깃한 반죽 속에 견과류와 시나몬 설탕이 녹아들어 환상적인 맛을 자랑하며, 붕어빵은 팥소뿐만 아니라 슈크림 등 다양한 변주를 통해 여행객의 입맛을 사로잡습니다. 갓 구워낸 따끈함이 특징이므로 대기 줄이 길더라도 회전율이 높은 곳을 선택해야 합니다.</a:t>
            </a:r>
          </a:p>
          <a:p>
            <a:pPr lvl="0" indent="0" marL="0">
              <a:buNone/>
            </a:pPr>
            <a:r>
              <a:rPr b="1"/>
              <a:t>[Table 2: 달콤 간식 비교]</a:t>
            </a:r>
            <a:r>
              <a:rPr/>
              <a:t> | 메뉴 | 가격대 | 특징 | 팁 | | :— | :— | :— | :— | | 호떡 | 1,500~3,000원 | 시나몬 설탕, 쫄깃함 | 뜨거운 시럽 주의 | | 붕어빵 | 2,000~3,000원 | 팥소, 물고기 모양 | 머리부터 먹기 |</a:t>
            </a:r>
          </a:p>
          <a:p>
            <a:pPr lvl="0"/>
            <a:r>
              <a:rPr b="1"/>
              <a:t>겨울철 최고 인기 간식인 호떡의 바삭한 겉면과 달콤한 캐러멜 시럽이 주는 강렬한 미각적 즐거움</a:t>
            </a:r>
          </a:p>
          <a:p>
            <a:pPr lvl="0"/>
            <a:r>
              <a:rPr b="1"/>
              <a:t>효모 반죽의 찰진 식감과 속재료인 견과류의 고소함이 조화를 이루는 명동 노점만의 비법 확인</a:t>
            </a:r>
          </a:p>
          <a:p>
            <a:pPr lvl="0"/>
            <a:r>
              <a:rPr b="1"/>
              <a:t>전통적인 팥소 붕어빵부터 치즈와 커스터드가 들어간 현대적 변종까지 폭넓은 선택지 탐색</a:t>
            </a:r>
          </a:p>
          <a:p>
            <a:pPr lvl="0"/>
            <a:r>
              <a:rPr b="1"/>
              <a:t>긴 줄을 서서 기다리는 과정마저 여행의 일부로 즐기며 갓 구워진 최상의 상태를 맛보는 인내심 발휘</a:t>
            </a:r>
          </a:p>
          <a:p>
            <a:pPr lvl="0"/>
            <a:r>
              <a:rPr b="1"/>
              <a:t>종이컵이나 봉투에 담긴 따뜻한 간식을 손에 쥐고 차가운 겨울바람을 녹이는 낭만적인 순간 연출</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6] 길거리 음식 2: 매콤하고 든든하게 (떡볶이 &amp; 김밥)</a:t>
            </a:r>
          </a:p>
        </p:txBody>
      </p:sp>
      <p:sp>
        <p:nvSpPr>
          <p:cNvPr id="3" name="Content Placeholder 2"/>
          <p:cNvSpPr>
            <a:spLocks noGrp="1"/>
          </p:cNvSpPr>
          <p:nvPr>
            <p:ph idx="1"/>
          </p:nvPr>
        </p:nvSpPr>
        <p:spPr/>
        <p:txBody>
          <a:bodyPr/>
          <a:lstStyle/>
          <a:p>
            <a:pPr lvl="0" indent="0" marL="0">
              <a:buNone/>
            </a:pPr>
            <a:r>
              <a:rPr/>
              <a:t>명동의 떡볶이는 강렬한 붉은 빛의 고추장 소스가 특징이며, 어묵과 삶은 계란이 곁들여져 한 끼 식사로 손색이 없습니다. 여기에 참기름 향이 가득한 김밥을 함께하면 매운맛을 중화시키며 완벽한 균형을 이룹니다. 특히 겨자 소스에 찍어 먹는 꼬마 김밥 형태의 ’마약김밥’은 명동에서 반드시 경험해야 할 별미 중 하나입니다.</a:t>
            </a:r>
          </a:p>
          <a:p>
            <a:pPr lvl="0" indent="0" marL="0">
              <a:buNone/>
            </a:pPr>
            <a:r>
              <a:rPr b="1"/>
              <a:t>[시각화: 맛의 균형도]</a:t>
            </a:r>
            <a:r>
              <a:rPr/>
              <a:t> - 떡볶이: 매운맛(8/10), 달콤함(6/10) - 김밥: 고소함(9/10), 짠맛(4/10) - 조화: 소스에 찍어 먹을 때 감칠맛 폭발</a:t>
            </a:r>
          </a:p>
          <a:p>
            <a:pPr lvl="0"/>
            <a:r>
              <a:rPr b="1"/>
              <a:t>중독성 강한 매운맛의 떡볶이와 속이 꽉 찬 김밥을 조합하여 한 끼 식사의 완성도를 높이는 구성</a:t>
            </a:r>
          </a:p>
          <a:p>
            <a:pPr lvl="0"/>
            <a:r>
              <a:rPr b="1"/>
              <a:t>떡볶이 노점에서 무료로 제공되는 따뜻한 어묵 국물을 활용해 입안의 매운 기운을 부드럽게 달램</a:t>
            </a:r>
          </a:p>
          <a:p>
            <a:pPr lvl="0"/>
            <a:r>
              <a:rPr b="1"/>
              <a:t>실온에서 가장 맛있는 김밥의 참기름 풍미를 느끼며 한국 가정식의 정수를 길거리에서 경험함</a:t>
            </a:r>
          </a:p>
          <a:p>
            <a:pPr lvl="0"/>
            <a:r>
              <a:rPr b="1"/>
              <a:t>다양한 속재료가 어우러진 김밥 한 줄로 영양 균형을 맞추고 쇼핑을 위한 체력을 비축하는 활동</a:t>
            </a:r>
          </a:p>
          <a:p>
            <a:pPr lvl="0"/>
            <a:r>
              <a:rPr b="1"/>
              <a:t>친구와 메뉴를 나누어 먹는 ’반반 방법’을 통해 배부름을 조절하며 다채로운 맛의 지평을 넓힘</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7] 길거리 음식 3: 바삭함과 불맛 (치킨 &amp; 닭꼬치)</a:t>
            </a:r>
          </a:p>
        </p:txBody>
      </p:sp>
      <p:sp>
        <p:nvSpPr>
          <p:cNvPr id="3" name="Content Placeholder 2"/>
          <p:cNvSpPr>
            <a:spLocks noGrp="1"/>
          </p:cNvSpPr>
          <p:nvPr>
            <p:ph idx="1"/>
          </p:nvPr>
        </p:nvSpPr>
        <p:spPr/>
        <p:txBody>
          <a:bodyPr/>
          <a:lstStyle/>
          <a:p>
            <a:pPr lvl="0" indent="0" marL="0">
              <a:buNone/>
            </a:pPr>
            <a:r>
              <a:rPr/>
              <a:t>한국식 프라이드치킨은 이중 튀김 기술을 통해 극강의 바삭함을 구현하며, 명동 거리에서는 컵에 담긴 형태로 이동 중에 간편히 즐길 수 있습니다. 또한, 직화로 구워 불맛이 살아있는 닭꼬치는 달콤한 간장 소스부터 얼얼한 매운 소스까지 선택의 폭이 넓어 맥주 한 잔을 절로 떠올리게 합니다.</a:t>
            </a:r>
          </a:p>
          <a:p>
            <a:pPr lvl="0" indent="0" marL="0">
              <a:buNone/>
            </a:pPr>
            <a:r>
              <a:rPr b="1"/>
              <a:t>[Table 3: 단백질 간식 상세]</a:t>
            </a:r>
            <a:r>
              <a:rPr/>
              <a:t> | 메뉴 | 가격대 | 특징 | 소스 종류 | | :— | :— | :— | :— | | 치킨(컵) | 5,000~9,000원 | 바삭한 튀김옷, 육즙 | 간장마늘, 양념 | | 닭꼬치 | 4,000~5,000원 | 직화 구이, 파 조합 | 소금, 데리야끼, 매운맛 |</a:t>
            </a:r>
          </a:p>
          <a:p>
            <a:pPr lvl="0"/>
            <a:r>
              <a:rPr b="1"/>
              <a:t>이중 튀김 기법으로 완성된 한국식 치킨의 놀라운 바삭함과 소스가 주는 감칠맛의 환상적인 조화</a:t>
            </a:r>
          </a:p>
          <a:p>
            <a:pPr lvl="0"/>
            <a:r>
              <a:rPr b="1"/>
              <a:t>길거리에서 간편하게 즐길 수 있도록 컵에 담겨 제공되는 이동식 치킨으로 여행의 편의성 강화</a:t>
            </a:r>
          </a:p>
          <a:p>
            <a:pPr lvl="0"/>
            <a:r>
              <a:rPr b="1"/>
              <a:t>숯불 위에서 지글지글 구워지는 닭꼬치의 연기와 향기에 이끌려 도착하는 명동 야시장의 숨은 맛집</a:t>
            </a:r>
          </a:p>
          <a:p>
            <a:pPr lvl="0"/>
            <a:r>
              <a:rPr b="1"/>
              <a:t>순한 맛부터 도전적인 매운맛까지 개인의 취향에 맞게 소스를 선택하여 맞춤형 미식 경험 완성</a:t>
            </a:r>
          </a:p>
          <a:p>
            <a:pPr lvl="0"/>
            <a:r>
              <a:rPr b="1"/>
              <a:t>닭고기와 구운 파를 번갈아 끼운 꼬치를 통해 풍부한 식감과 스모키한 풍미를 동시에 만끽하는 시간</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8] 길거리 음식 4: 이색 조합 (계란빵 &amp; 핫도그)</a:t>
            </a:r>
          </a:p>
        </p:txBody>
      </p:sp>
      <p:sp>
        <p:nvSpPr>
          <p:cNvPr id="3" name="Content Placeholder 2"/>
          <p:cNvSpPr>
            <a:spLocks noGrp="1"/>
          </p:cNvSpPr>
          <p:nvPr>
            <p:ph idx="1"/>
          </p:nvPr>
        </p:nvSpPr>
        <p:spPr/>
        <p:txBody>
          <a:bodyPr/>
          <a:lstStyle/>
          <a:p>
            <a:pPr lvl="0" indent="0" marL="0">
              <a:buNone/>
            </a:pPr>
            <a:r>
              <a:rPr/>
              <a:t>달콤한 빵 반죽 위에 계란 하나를 통째로 올린 계란빵은 단짠(달고 짠) 맛의 정석을 보여줍니다. 반면 한국식 콘도그인 ’핫도그’는 설탕을 뿌리거나 감자 큐브를 붙이는 등 혁신적인 비주얼과 맛으로 세계적인 인기를 얻고 있습니다. 모짜렐라 치즈가 듬뿍 들어간 핫도그를 한 입 베어 물 때 늘어나는 치즈는 인스타그램에 올리기 좋은 최고의 순간입니다.</a:t>
            </a:r>
          </a:p>
          <a:p>
            <a:pPr lvl="0" indent="0" marL="0">
              <a:buNone/>
            </a:pPr>
            <a:r>
              <a:rPr b="1"/>
              <a:t>[시각화: 핫도그 구조도]</a:t>
            </a:r>
            <a:r>
              <a:rPr/>
              <a:t> - 중심: 소시지 or 치즈 - 반죽: 쫄깃한 쌀 반죽 - 토핑: 감자 큐브, 라면 조각 - 마감: 설탕, 케첩, 머스터드</a:t>
            </a:r>
          </a:p>
          <a:p>
            <a:pPr lvl="0"/>
            <a:r>
              <a:rPr b="1"/>
              <a:t>폭신한 케이크 식감의 빵과 고소한 계란 노른자가 어우러져 아침 식사 대용으로도 훌륭한 계란빵</a:t>
            </a:r>
          </a:p>
          <a:p>
            <a:pPr lvl="0"/>
            <a:r>
              <a:rPr b="1"/>
              <a:t>치즈와 소시지가 반반씩 들어간 핫도그를 통해 한 번에 두 가지 맛과 식감을 즐기는 효율적 선택</a:t>
            </a:r>
          </a:p>
          <a:p>
            <a:pPr lvl="0"/>
            <a:r>
              <a:rPr b="1"/>
              <a:t>감자나 라면 토핑을 추가하여 극대화된 바삭함을 선사하는 한국식 핫도그의 창의적인 변신 확인</a:t>
            </a:r>
          </a:p>
          <a:p>
            <a:pPr lvl="0"/>
            <a:r>
              <a:rPr b="1"/>
              <a:t>치즈가 길게 늘어나는 ‘치즈 풀’ 장면을 포착하여 여행의 즐거운 기억을 사진과 영상으로 기록함</a:t>
            </a:r>
          </a:p>
          <a:p>
            <a:pPr lvl="0"/>
            <a:r>
              <a:rPr b="1"/>
              <a:t>설탕과 케첩이 어우러진 중독성 있는 마법의 소스 조합으로 길거리 음식의 진수를 맛보는 경험</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9] 길거리 음식 종합 비교표</a:t>
            </a:r>
          </a:p>
        </p:txBody>
      </p:sp>
      <p:sp>
        <p:nvSpPr>
          <p:cNvPr id="3" name="Content Placeholder 2"/>
          <p:cNvSpPr>
            <a:spLocks noGrp="1"/>
          </p:cNvSpPr>
          <p:nvPr>
            <p:ph idx="1"/>
          </p:nvPr>
        </p:nvSpPr>
        <p:spPr/>
        <p:txBody>
          <a:bodyPr/>
          <a:lstStyle/>
          <a:p>
            <a:pPr lvl="0" indent="0" marL="0">
              <a:buNone/>
            </a:pPr>
            <a:r>
              <a:rPr/>
              <a:t>명동의 주요 길거리 음식들을 구현 복잡성과 가격, 만족도 측면에서 비교하여 최선의 선택을 돕습니다. 각 음식은 저마다의 매력을 가지고 있으므로 개인의 취향과 남은 위장 용량을 고려하여 선택해야 합니다.</a:t>
            </a:r>
          </a:p>
          <a:p>
            <a:pPr lvl="0" indent="0" marL="0">
              <a:buNone/>
            </a:pPr>
            <a:r>
              <a:rPr b="1"/>
              <a:t>[Table 4: 명동 길거리 음식 9선 비교]</a:t>
            </a:r>
            <a:r>
              <a:rPr/>
              <a:t> | 항목 | 맛의 특징 | 가격대(₩) | 추천 상황 | 채식 여부 | | :— | :— | :— | :— | :— | | 호떡 | 달콤/쫄깃 | 1.5k-3k | 추울 때 | 가능 | | 떡볶이 | 매콤/달콤 | 3k-5k | 배고플 때 | 불가(어묵) | | 치킨 | 바삭/고소 | 5k-9k | 간식/안주 | 불가 | | 붕어빵 | 달콤/폭신 | 2k-3k | 가벼운 디저트 | 가능 | | 김밥 | 든든/정갈 | 3k-6k | 한 끼 식사 | 옵션 가능 | | 튀김 | 바삭/기름진 | 4k-6k | 떡볶이와 함께 | 가능 | | 계란빵 | 단짠/포근 | 2k-3.5k | 브런치 대용 | 가능 | | 핫도그 | 바삭/풍성 | 2.5k-5k | 인스타 사진용 | 불가 | | 닭꼬치 | 스모키/육즙 | 4k-5k | 육식파 추천 | 불가 |</a:t>
            </a:r>
          </a:p>
          <a:p>
            <a:pPr lvl="0"/>
            <a:r>
              <a:rPr b="1"/>
              <a:t>9가지 대표 음식을 한눈에 비교 분석하여 개인의 기호에 맞는 최적의 메뉴를 선별하는 기준 제공</a:t>
            </a:r>
          </a:p>
          <a:p>
            <a:pPr lvl="0"/>
            <a:r>
              <a:rPr b="1"/>
              <a:t>채식주의자를 위한 선택지를 별도로 표기하여 다양한 식성을 가진 여행객들이 안심하고 즐기게 함</a:t>
            </a:r>
          </a:p>
          <a:p>
            <a:pPr lvl="0"/>
            <a:r>
              <a:rPr b="1"/>
              <a:t>가격대와 양을 고려하여 전체 여행 예산 내에서 합리적인 소비를 할 수 있도록 가이드라인 제시</a:t>
            </a:r>
          </a:p>
          <a:p>
            <a:pPr lvl="0"/>
            <a:r>
              <a:rPr b="1"/>
              <a:t>각 음식의 특성에 따른 최적의 섭취 타이밍과 조합을 제안하여 미식 경험의 만족도를 극대화함</a:t>
            </a:r>
          </a:p>
          <a:p>
            <a:pPr lvl="0"/>
            <a:r>
              <a:rPr b="1"/>
              <a:t>길거리 음식 특유의 현장감과 맛의 특징을 명확히 전달하여 실패 없는 명동 먹거리 투어 지원</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10] 오후 2:00 쇼핑 &amp; 체험: 위글위글집</a:t>
            </a:r>
          </a:p>
        </p:txBody>
      </p:sp>
      <p:sp>
        <p:nvSpPr>
          <p:cNvPr id="3" name="Content Placeholder 2"/>
          <p:cNvSpPr>
            <a:spLocks noGrp="1"/>
          </p:cNvSpPr>
          <p:nvPr>
            <p:ph idx="1"/>
          </p:nvPr>
        </p:nvSpPr>
        <p:spPr/>
        <p:txBody>
          <a:bodyPr/>
          <a:lstStyle/>
          <a:p>
            <a:pPr lvl="0" indent="0" marL="0">
              <a:buNone/>
            </a:pPr>
            <a:r>
              <a:rPr/>
              <a:t>점심 식사 후 방문할 ’위글위글집 명동’은 3층 규모의 거대한 소품샵이자 포토존입니다. 명동역 8번 출구 근처에 위치하며, 화려한 색감과 독특한 캐릭터들로 가득 차 있어 공간 자체가 하나의 전시관과 같습니다. 층마다 다른 컨셉으로 꾸며진 인테리어 덕분에 사진 찍는 재미가 쏠쏠하며, 시그니처인 꽃 모양 쿠션은 필수 쇼핑 아이템입니다.</a:t>
            </a:r>
          </a:p>
          <a:p>
            <a:pPr lvl="0" indent="0" marL="0">
              <a:buNone/>
            </a:pPr>
            <a:r>
              <a:rPr b="1"/>
              <a:t>[시각화: 위글위글집 층별 가이드]</a:t>
            </a:r>
            <a:r>
              <a:rPr/>
              <a:t> - 1F: 굿즈 &amp; 핑크 입구 (강렬한 첫인상) - 2F: 라이프스타일 룸 (집 컨셉 인테리어) - 3F: 플레이그라운드 &amp; 루프탑 (야외 포토존)</a:t>
            </a:r>
          </a:p>
          <a:p>
            <a:pPr lvl="0"/>
            <a:r>
              <a:rPr b="1"/>
              <a:t>명동역 인근의 랜드마크로 자리 잡은 위글위글집의 화려한 외관이 선사하는 시각적 즐거움 체험</a:t>
            </a:r>
          </a:p>
          <a:p>
            <a:pPr lvl="0"/>
            <a:r>
              <a:rPr b="1"/>
              <a:t>1층부터 3층까지 이어지는 독특한 세계관 속에서 아기자기한 캐릭터 소품들을 탐색하는 재미</a:t>
            </a:r>
          </a:p>
          <a:p>
            <a:pPr lvl="0"/>
            <a:r>
              <a:rPr b="1"/>
              <a:t>라이프스타일 전반을 아우르는 아이디어 상품들을 직접 확인하고 지인들을 위한 선물 리스트 작성</a:t>
            </a:r>
          </a:p>
          <a:p>
            <a:pPr lvl="0"/>
            <a:r>
              <a:rPr b="1"/>
              <a:t>층마다 설치된 개성 넘치는 포토 스팟에서 인생샷을 남기며 즐거운 추억을 디지털 기록으로 저장함</a:t>
            </a:r>
          </a:p>
          <a:p>
            <a:pPr lvl="0"/>
            <a:r>
              <a:rPr b="1"/>
              <a:t>위글위글만의 시그니처인 화사한 꽃 아이템을 직접 구매하여 일상의 활력을 더하는 쇼핑 활동</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11] 오후 2:30 이색 데이트: 말똥카니발</a:t>
            </a:r>
          </a:p>
        </p:txBody>
      </p:sp>
      <p:sp>
        <p:nvSpPr>
          <p:cNvPr id="3" name="Content Placeholder 2"/>
          <p:cNvSpPr>
            <a:spLocks noGrp="1"/>
          </p:cNvSpPr>
          <p:nvPr>
            <p:ph idx="1"/>
          </p:nvPr>
        </p:nvSpPr>
        <p:spPr/>
        <p:txBody>
          <a:bodyPr/>
          <a:lstStyle/>
          <a:p>
            <a:pPr lvl="0" indent="0" marL="0">
              <a:buNone/>
            </a:pPr>
            <a:r>
              <a:rPr/>
              <a:t>엠플라자 4층에 위치한 ’말똥카니발’은 파주에서 유명한 말똥도넛의 서울 진출작입니다. 카페와 스튜디오, 굿즈샵이 결합된 이곳은 화려한 네온사인과 조형물들로 꾸며져 ’어른들의 놀이터’라 불립니다. 인형 뽑기와 피규어 구경은 물론, 알록달록한 도넛을 맛보며 당을 충전하기에 최적의 장소입니다.</a:t>
            </a:r>
          </a:p>
          <a:p>
            <a:pPr lvl="0" indent="0" marL="0">
              <a:buNone/>
            </a:pPr>
            <a:r>
              <a:rPr b="1"/>
              <a:t>[Table 5: 말똥카니발 이용 정보]</a:t>
            </a:r>
            <a:r>
              <a:rPr/>
              <a:t> | 구분 | 내용 | 비고 | | :— | :— | :— | | 위치 | 엠플라자 4F | 명동역 6번 출구 근처 | | 주요 시설 | 도넛 카페, 굿즈샵, 스튜디오 | 사진 촬영 최적 | | 꿀팁 | 네이버 예약 할인 | 도넛+음료 패키지 |</a:t>
            </a:r>
          </a:p>
          <a:p>
            <a:pPr lvl="0"/>
            <a:r>
              <a:rPr b="1"/>
              <a:t>파주의 핫플레이스인 말똥도넛의 감성을 서울 도심에서 그대로 느낄 수 있는 이색 복합 공간</a:t>
            </a:r>
          </a:p>
          <a:p>
            <a:pPr lvl="0"/>
            <a:r>
              <a:rPr b="1"/>
              <a:t>고퀄리티의 피규어와 인형 뽑기 기계들이 가득한 입구를 지나며 동심으로 돌아가는 특별한 경험</a:t>
            </a:r>
          </a:p>
          <a:p>
            <a:pPr lvl="0"/>
            <a:r>
              <a:rPr b="1"/>
              <a:t>크리에이터들을 위한 전문 스튜디오 시설을 구경하며 현대적인 콘텐츠 제작 문화를 엿보는 기회</a:t>
            </a:r>
          </a:p>
          <a:p>
            <a:pPr lvl="0"/>
            <a:r>
              <a:rPr b="1"/>
              <a:t>네이버 예약을 통해 가성비 좋은 도넛 패키지를 즐기며 오후의 피로를 날려버리는 달콤한 휴식</a:t>
            </a:r>
          </a:p>
          <a:p>
            <a:pPr lvl="0"/>
            <a:r>
              <a:rPr b="1"/>
              <a:t>화려한 배경과 조형물들 사이에서 감각적인 연출샷을 촬영하여 SNS 피드를 풍성하게 채우는 활동</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12] 오후 3:00 심층 체험: 안나아트 &amp; 비트포비아</a:t>
            </a:r>
          </a:p>
        </p:txBody>
      </p:sp>
      <p:sp>
        <p:nvSpPr>
          <p:cNvPr id="3" name="Content Placeholder 2"/>
          <p:cNvSpPr>
            <a:spLocks noGrp="1"/>
          </p:cNvSpPr>
          <p:nvPr>
            <p:ph idx="1"/>
          </p:nvPr>
        </p:nvSpPr>
        <p:spPr/>
        <p:txBody>
          <a:bodyPr/>
          <a:lstStyle/>
          <a:p>
            <a:pPr lvl="0" indent="0" marL="0">
              <a:buNone/>
            </a:pPr>
            <a:r>
              <a:rPr/>
              <a:t>명동의 숨은 매력을 느끼고 싶다면 미술치료사가 운영하는 ‘안나아트’나 박진감 넘치는 ’비트포비아’ 방탈출을 추천합니다. 안나아트는 통유리창 너머 명동을 내려다보며 상담과 차를 즐길 수 있는 안식처 같은 공간입니다. 반면 비트포비아는 두뇌를 풀가동하여 힌트를 찾고 방을 탈출하는 스릴을 선사합니다.</a:t>
            </a:r>
          </a:p>
          <a:p>
            <a:pPr lvl="0" indent="0" marL="0">
              <a:buNone/>
            </a:pPr>
            <a:r>
              <a:rPr b="1"/>
              <a:t>[시각화: 정적 vs 동적 활동]</a:t>
            </a:r>
            <a:r>
              <a:rPr/>
              <a:t> - 정적: 안나아트 (심리 상담, 풍경 감상, 휴식) - 동적: 비트포비아 (방탈출, 추리, 협동, 스릴) - 선택 가이드: 현재 컨디션과 기분에 따라 택일</a:t>
            </a:r>
          </a:p>
          <a:p>
            <a:pPr lvl="0"/>
            <a:r>
              <a:rPr b="1"/>
              <a:t>미술치료사의 전문적인 상담을 통해 내면을 들여다보고 마음의 안정을 찾는 차분한 힐링 시간</a:t>
            </a:r>
          </a:p>
          <a:p>
            <a:pPr lvl="0"/>
            <a:r>
              <a:rPr b="1"/>
              <a:t>탁 트인 창밖의 도심 풍경을 배경으로 따뜻한 차 한 잔을 마시며 여행의 중간 점검을 하는 여유</a:t>
            </a:r>
          </a:p>
          <a:p>
            <a:pPr lvl="0"/>
            <a:r>
              <a:rPr b="1"/>
              <a:t>비트포비아 명동점에서 제공하는 기발한 트릭과 단서들을 해결하며 지적 쾌감을 맛보는 도전 활동</a:t>
            </a:r>
          </a:p>
          <a:p>
            <a:pPr lvl="0"/>
            <a:r>
              <a:rPr b="1"/>
              <a:t>친구 또는 연인과 협동하여 제한 시간 내에 탈출에 성공했을 때 느끼는 짜릿한 성취감과 결속력</a:t>
            </a:r>
          </a:p>
          <a:p>
            <a:pPr lvl="0"/>
            <a:r>
              <a:rPr b="1"/>
              <a:t>서로 다른 매력의 두 장소 중 하나를 선택하여 개인의 성향에 맞는 최적의 오후 일정을 완성함</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13] 오후 3:30 특별 동선: 신라호텔 옆 스타벅스</a:t>
            </a:r>
          </a:p>
        </p:txBody>
      </p:sp>
      <p:sp>
        <p:nvSpPr>
          <p:cNvPr id="3" name="Content Placeholder 2"/>
          <p:cNvSpPr>
            <a:spLocks noGrp="1"/>
          </p:cNvSpPr>
          <p:nvPr>
            <p:ph idx="1"/>
          </p:nvPr>
        </p:nvSpPr>
        <p:spPr/>
        <p:txBody>
          <a:bodyPr/>
          <a:lstStyle/>
          <a:p>
            <a:pPr lvl="0" indent="0" marL="0">
              <a:buNone/>
            </a:pPr>
            <a:r>
              <a:rPr/>
              <a:t>명동에서 잠시 벗어나 장충동 방향으로 이동하면 신라호텔 인근 장충단공원에 위치한 한옥 스타일의 스타벅스를 만날 수 있습니다. 고즈넉한 공원의 정취와 한옥의 미가 어우러진 이곳은 번화한 명동과는 또 다른 차분함을 선사합니다. 30분이라는 시간 제한 속에서도 명동의 현대미와 장충동의 고전미를 동시에 경험하는 것이 이 동선의 묘미입니다.</a:t>
            </a:r>
          </a:p>
          <a:p>
            <a:pPr lvl="0" indent="0" marL="0">
              <a:buNone/>
            </a:pPr>
            <a:r>
              <a:rPr b="1"/>
              <a:t>[Table 6: 이동 수단 및 소요 시간]</a:t>
            </a:r>
            <a:r>
              <a:rPr/>
              <a:t> | 경로 | 수단 | 예상 시간 | 비고 | | :— | :— | :— | :— | | 명동 → 스타벅스 | 택시 | 10~15분 | 신속 이동 권장 | | 명동 → 스타벅스 | 지하철 3호선 | 20분 | 동대입구역 하차 |</a:t>
            </a:r>
          </a:p>
          <a:p>
            <a:pPr lvl="0"/>
            <a:r>
              <a:rPr b="1"/>
              <a:t>한옥의 멋이 살아있는 스타벅스 장충단공원점에서 현대적 음료와 전통 건축의 이색적인 조화 감상</a:t>
            </a:r>
          </a:p>
          <a:p>
            <a:pPr lvl="0"/>
            <a:r>
              <a:rPr b="1"/>
              <a:t>장충단공원의 울창한 나무와 고요한 산책로를 배경으로 잠시 도심의 소음에서 벗어나는 정화의 시간</a:t>
            </a:r>
          </a:p>
          <a:p>
            <a:pPr lvl="0"/>
            <a:r>
              <a:rPr b="1"/>
              <a:t>명동의 북적임과는 대비되는 평온한 분위기 속에서 커피 한 잔의 여유를 즐기며 체력을 재충전함</a:t>
            </a:r>
          </a:p>
          <a:p>
            <a:pPr lvl="0"/>
            <a:r>
              <a:rPr b="1"/>
              <a:t>인근의 신라호텔과 공원의 조경을 구경하며 서울의 고급스러운 면모와 역사적 풍경을 동시에 체험</a:t>
            </a:r>
          </a:p>
          <a:p>
            <a:pPr lvl="0"/>
            <a:r>
              <a:rPr b="1"/>
              <a:t>효율적인 이동을 위해 택시를 이용함으로써 30분의 시간 제한을 지키면서도 색다른 명소 방문 성공</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14] 오후 4:00 역사적 명소: 명동대성당</a:t>
            </a:r>
          </a:p>
        </p:txBody>
      </p:sp>
      <p:sp>
        <p:nvSpPr>
          <p:cNvPr id="3" name="Content Placeholder 2"/>
          <p:cNvSpPr>
            <a:spLocks noGrp="1"/>
          </p:cNvSpPr>
          <p:nvPr>
            <p:ph idx="1"/>
          </p:nvPr>
        </p:nvSpPr>
        <p:spPr/>
        <p:txBody>
          <a:bodyPr/>
          <a:lstStyle/>
          <a:p>
            <a:pPr lvl="0" indent="0" marL="0">
              <a:buNone/>
            </a:pPr>
            <a:r>
              <a:rPr/>
              <a:t>한국 천주교의 상징이자 고딕 양식의 아름다움을 간직한 명동대성당은 명동 여행의 필수 코스입니다. 역사적인 층위가 겹겹이 쌓인 이곳은 경건한 분위기 속에서 성찰의 시간을 갖게 합니다. 특히 크리스마스 시즌에는 성당 주변이 조명으로 빛나며 더욱 환상적인 풍경을 연출하여 많은 이들의 발길을 끕니다.</a:t>
            </a:r>
          </a:p>
          <a:p>
            <a:pPr lvl="0" indent="0" marL="0">
              <a:buNone/>
            </a:pPr>
            <a:r>
              <a:rPr b="1"/>
              <a:t>[시각화: 성당 주요 미사 시간(성탄)]</a:t>
            </a:r>
            <a:r>
              <a:rPr/>
              <a:t> - 12/24 밤미사: 밤 12시 (9시 입장 시작) - 12/25 오전: 9시, 11시, 12시(교중) - 12/25 오후: 4시, 5시, 6시, 7시, 9시</a:t>
            </a:r>
          </a:p>
          <a:p>
            <a:pPr lvl="0"/>
            <a:r>
              <a:rPr b="1"/>
              <a:t>대한민국 근현대사의 중요한 순간들을 함께한 명동대성당의 장엄한 건축미와 역사적 가치 확인</a:t>
            </a:r>
          </a:p>
          <a:p>
            <a:pPr lvl="0"/>
            <a:r>
              <a:rPr b="1"/>
              <a:t>성당 내부의 고요한 공기 속에서 잠시 묵상하며 여행 중 흐트러진 마음을 차분히 가다듬는 시간</a:t>
            </a:r>
          </a:p>
          <a:p>
            <a:pPr lvl="0"/>
            <a:r>
              <a:rPr b="1"/>
              <a:t>붉은 벽돌과 뾰족한 첨탑이 어우러진 외관을 배경으로 이국적이면서도 성스러운 분위기의 사진 촬영</a:t>
            </a:r>
          </a:p>
          <a:p>
            <a:pPr lvl="0"/>
            <a:r>
              <a:rPr b="1"/>
              <a:t>성탄 시즌 한정으로 운영되는 구유 예절과 대형 트리 등의 장식물을 관람하며 종교적 숭고함 체험</a:t>
            </a:r>
          </a:p>
          <a:p>
            <a:pPr lvl="0"/>
            <a:r>
              <a:rPr b="1"/>
              <a:t>성당 아래 복합 문화 공간에서 예술 서적이나 성물을 구경하며 조용한 쇼핑과 문화 감상 병행</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15] 오후 5:00 겨울의 정점: 신세계 미디어파사드</a:t>
            </a:r>
          </a:p>
        </p:txBody>
      </p:sp>
      <p:sp>
        <p:nvSpPr>
          <p:cNvPr id="3" name="Content Placeholder 2"/>
          <p:cNvSpPr>
            <a:spLocks noGrp="1"/>
          </p:cNvSpPr>
          <p:nvPr>
            <p:ph idx="1"/>
          </p:nvPr>
        </p:nvSpPr>
        <p:spPr/>
        <p:txBody>
          <a:bodyPr/>
          <a:lstStyle/>
          <a:p>
            <a:pPr lvl="0" indent="0" marL="0">
              <a:buNone/>
            </a:pPr>
            <a:r>
              <a:rPr/>
              <a:t>해가 지기 시작하면 신세계백화점 본점 외벽을 수놓는 초대형 미디어파사드가 시작됩니다. 최첨단 3D 입체 효과인 아나몰픽 기술이 적용되어 건물이 살아 움직이는 듯한 환상적인 시각적 경험을 선사합니다. 웅장한 클래식 음악에 맞춘 스토리텔링은 단순한 조명을 넘어 하나의 예술 작품으로 평가받습니다.</a:t>
            </a:r>
          </a:p>
          <a:p>
            <a:pPr lvl="0" indent="0" marL="0">
              <a:buNone/>
            </a:pPr>
            <a:r>
              <a:rPr b="1"/>
              <a:t>[Table 7: 미디어파사드 운영 정보]</a:t>
            </a:r>
            <a:r>
              <a:rPr/>
              <a:t> | 기간 | 시간 | 상영 길이 | 명당 | | :— | :— | :— | :— | | 11월 초 ~ 1월 말 | 17:00 ~ 24:00 | 약 3분 30초 (반복) | 회현지하상가 1,2번 출구 앞 |</a:t>
            </a:r>
          </a:p>
          <a:p>
            <a:pPr lvl="0"/>
            <a:r>
              <a:rPr b="1"/>
              <a:t>오후 5시부터 자정까지 이어지는 빛의 향연을 통해 서울의 밤을 화려하게 수놓는 최고의 볼거리</a:t>
            </a:r>
          </a:p>
          <a:p>
            <a:pPr lvl="0"/>
            <a:r>
              <a:rPr b="1"/>
              <a:t>아나몰픽 기술이 구현하는 입체적인 영상미를 감상하며 건물 벽을 뚫고 나오는 듯한 생동감 체험</a:t>
            </a:r>
          </a:p>
          <a:p>
            <a:pPr lvl="0"/>
            <a:r>
              <a:rPr b="1"/>
              <a:t>약 3분 30초 동안 펼쳐지는 크리스마스 동화 같은 스토리에 몰입하여 감동적인 연말 분위기 만끽</a:t>
            </a:r>
          </a:p>
          <a:p>
            <a:pPr lvl="0"/>
            <a:r>
              <a:rPr b="1"/>
              <a:t>해가 완전히 진 오후 6시 이후의 극대화된 선명도를 확인하며 최적의 관람 타이밍을 포착하는 지혜</a:t>
            </a:r>
          </a:p>
          <a:p>
            <a:pPr lvl="0"/>
            <a:r>
              <a:rPr b="1"/>
              <a:t>매년 진화하는 신세계만의 독창적인 연출력을 통해 겨울 서울의 랜드마크로서의 가치를 직접 확인</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16] 관람 팁: 미디어파사드 명당 찾기</a:t>
            </a:r>
          </a:p>
        </p:txBody>
      </p:sp>
      <p:sp>
        <p:nvSpPr>
          <p:cNvPr id="3" name="Content Placeholder 2"/>
          <p:cNvSpPr>
            <a:spLocks noGrp="1"/>
          </p:cNvSpPr>
          <p:nvPr>
            <p:ph idx="1"/>
          </p:nvPr>
        </p:nvSpPr>
        <p:spPr/>
        <p:txBody>
          <a:bodyPr/>
          <a:lstStyle/>
          <a:p>
            <a:pPr lvl="0" indent="0" marL="0">
              <a:buNone/>
            </a:pPr>
            <a:r>
              <a:rPr/>
              <a:t>미디어파사드를 가장 완벽한 각도에서 감상하려면 백화점 건너편 ’회현지하쇼핑센터 1, 2번 출구 앞’을 선점해야 합니다. 이곳은 백화점 전경이 한눈에 들어오는 최적의 뷰포인트로, 3D 효과를 가장 드라마틱하게 느낄 수 있는 곳입니다. 인파가 몰릴 경우 안전 통제선 안쪽에서 질서를 지키며 관람하는 태도가 필요합니다.</a:t>
            </a:r>
          </a:p>
          <a:p>
            <a:pPr lvl="0" indent="0" marL="0">
              <a:buNone/>
            </a:pPr>
            <a:r>
              <a:rPr b="1"/>
              <a:t>[시각화: 최적 관람 시야]</a:t>
            </a:r>
            <a:r>
              <a:rPr/>
              <a:t> - 정면 뷰: 회현지하상가 출구 앞 (입체감 최상) - 사이드 뷰: 포스트 타워 주변 (웅장함 강조) - 실내 뷰: 인근 호텔 라운지 (따뜻하고 편안함)</a:t>
            </a:r>
          </a:p>
          <a:p>
            <a:pPr lvl="0"/>
            <a:r>
              <a:rPr b="1"/>
              <a:t>회현지하쇼핑센터 1, 2번 출구 앞의 명당을 선점하여 전체 화면을 가장 왜곡 없이 관람하는 전략</a:t>
            </a:r>
          </a:p>
          <a:p>
            <a:pPr lvl="0"/>
            <a:r>
              <a:rPr b="1"/>
              <a:t>촬영 시 광각 렌즈를 활용하여 건물의 거대한 스케일과 화려한 영상을 한 프레임에 담는 기술 발휘</a:t>
            </a:r>
          </a:p>
          <a:p>
            <a:pPr lvl="0"/>
            <a:r>
              <a:rPr b="1"/>
              <a:t>인파가 적은 오후 9시 이후를 공략하여 여유롭고 쾌적하게 쇼를 즐기는 ’프로 여행러’의 안목</a:t>
            </a:r>
          </a:p>
          <a:p>
            <a:pPr lvl="0"/>
            <a:r>
              <a:rPr b="1"/>
              <a:t>추운 겨울밤 장시간 대기를 대비하여 핫팩과 따뜻한 음료를 준비하고 체온 유지에 각별히 유의함</a:t>
            </a:r>
          </a:p>
          <a:p>
            <a:pPr lvl="0"/>
            <a:r>
              <a:rPr b="1"/>
              <a:t>삼각대를 세우기 좋은 위치를 미리 파악하여 흔들림 없는 고화질 영상을 기록으로 남기는 노력</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17] 백화점 크리스마스 마켓 비교</a:t>
            </a:r>
          </a:p>
        </p:txBody>
      </p:sp>
      <p:sp>
        <p:nvSpPr>
          <p:cNvPr id="3" name="Content Placeholder 2"/>
          <p:cNvSpPr>
            <a:spLocks noGrp="1"/>
          </p:cNvSpPr>
          <p:nvPr>
            <p:ph idx="1"/>
          </p:nvPr>
        </p:nvSpPr>
        <p:spPr/>
        <p:txBody>
          <a:bodyPr/>
          <a:lstStyle/>
          <a:p>
            <a:pPr lvl="0" indent="0" marL="0">
              <a:buNone/>
            </a:pPr>
            <a:r>
              <a:rPr/>
              <a:t>신세계와 롯데백화점은 미디어파사드 외에도 각기 다른 매력의 크리스마스 마켓을 운영합니다. 롯데의 ’크리스마스 인 롯데 타운’은 사전 예약 위주의 프리미엄 마켓을 선보이며, 신세계의 ’원더랜드 크리스마스 마켓’은 감성적인 리빙 아이템과 미니 토이를 중심으로 구성됩니다.</a:t>
            </a:r>
          </a:p>
          <a:p>
            <a:pPr lvl="0" indent="0" marL="0">
              <a:buNone/>
            </a:pPr>
            <a:r>
              <a:rPr b="1"/>
              <a:t>[Table 8: 백화점 마켓 특징 요약]</a:t>
            </a:r>
            <a:r>
              <a:rPr/>
              <a:t> | 백화점 | 마켓 명칭 | 특징 | 예약 여부 | | :— | :— | :— | :— | | 롯데 | 롯데 타운 | 뱅쇼, 사진 인화권 제공 | 사전 예약 권장 | | 신세계 | 원더랜드 | 리빙 아이템, 가챠 토이 | 현장 방문 가능 | | 현대 | Atelier De Noel | 해리 곰인형, 굿즈 중심 | 사전/현장 병행 |</a:t>
            </a:r>
          </a:p>
          <a:p>
            <a:pPr lvl="0"/>
            <a:r>
              <a:rPr b="1"/>
              <a:t>각 백화점 브랜드가 추구하는 고유의 크리스마스 감성을 담은 테마 공간들을 하나씩 탐방하는 재미</a:t>
            </a:r>
          </a:p>
          <a:p>
            <a:pPr lvl="0"/>
            <a:r>
              <a:rPr b="1"/>
              <a:t>사전 예약 티켓을 미리 확보하여 대기 없이 빠르게 입장하고 한정판 굿즈를 선점하는 치밀함 발휘</a:t>
            </a:r>
          </a:p>
          <a:p>
            <a:pPr lvl="0"/>
            <a:r>
              <a:rPr b="1"/>
              <a:t>마켓 내부의 포토존에서 연말 특유의 화사한 조명을 배경으로 세련된 프로필 사진을 업데이트함</a:t>
            </a:r>
          </a:p>
          <a:p>
            <a:pPr lvl="0"/>
            <a:r>
              <a:rPr b="1"/>
              <a:t>따뜻한 뱅쇼 한 잔을 마시며 마켓 곳곳에 퍼지는 시나몬 향기와 겨울 음악의 조화를 온몸으로 느낌</a:t>
            </a:r>
          </a:p>
          <a:p>
            <a:pPr lvl="0"/>
            <a:r>
              <a:rPr b="1"/>
              <a:t>유럽의 전통 마켓을 옮겨 놓은 듯한 이국적인 분위기 속에서 소중한 사람들을 위한 연말 선물 구매</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18] 주차 가이드: 경제적이고 똑똑하게</a:t>
            </a:r>
          </a:p>
        </p:txBody>
      </p:sp>
      <p:sp>
        <p:nvSpPr>
          <p:cNvPr id="3" name="Content Placeholder 2"/>
          <p:cNvSpPr>
            <a:spLocks noGrp="1"/>
          </p:cNvSpPr>
          <p:nvPr>
            <p:ph idx="1"/>
          </p:nvPr>
        </p:nvSpPr>
        <p:spPr/>
        <p:txBody>
          <a:bodyPr/>
          <a:lstStyle/>
          <a:p>
            <a:pPr lvl="0" indent="0" marL="0">
              <a:buNone/>
            </a:pPr>
            <a:r>
              <a:rPr/>
              <a:t>명동은 주차가 어렵기로 유명하지만, 전략적으로 접근하면 비용을 대폭 아낄 수 있습니다. 공영주차장을 이용하면 일반 주차장의 절반 가격에 이용 가능하며, 백화점 앱의 무료 주차권이나 건물 내 시설 이용 시 제공되는 할인 혜택을 적극 활용해야 합니다.</a:t>
            </a:r>
          </a:p>
          <a:p>
            <a:pPr lvl="0" indent="0" marL="0">
              <a:buNone/>
            </a:pPr>
            <a:r>
              <a:rPr b="1"/>
              <a:t>[Table 9: 명동 주요 주차장 정보]</a:t>
            </a:r>
            <a:r>
              <a:rPr/>
              <a:t> | 주차장 명칭 | 요금(10분당) | 특징 | 혜택 | | :— | :— | :— | :— | | 대한적십자사 | 500원 | 공영주차장, 100면 이상 | 저렴한 기본 요금 | | 신세계/롯데 | 1,000원 | 백화점 앱 활용 시 유리 | 2~3시간 무료 주차권 | | 대신파이낸스 | 건물 이용 시 | 주말 4시간 무료 | 식당/카페 이용 필수 |</a:t>
            </a:r>
          </a:p>
          <a:p>
            <a:pPr lvl="0"/>
            <a:r>
              <a:rPr b="1"/>
              <a:t>대한적십자사 본점 주차장과 같은 공영 시설을 이용하여 주차비를 시중가의 절반으로 절약하는 요령</a:t>
            </a:r>
          </a:p>
          <a:p>
            <a:pPr lvl="0"/>
            <a:r>
              <a:rPr b="1"/>
              <a:t>신세계 및 롯데백화점 앱을 설치하고 회원가입을 마친 후 제공되는 무료 주차권을 스마트하게 활용</a:t>
            </a:r>
          </a:p>
          <a:p>
            <a:pPr lvl="0"/>
            <a:r>
              <a:rPr b="1"/>
              <a:t>대신파이낸스센터 등 대형 빌딩의 주말 무료 주차 혜택을 파악하여 장시간 주차 시의 부담을 해소함</a:t>
            </a:r>
          </a:p>
          <a:p>
            <a:pPr lvl="0"/>
            <a:r>
              <a:rPr b="1"/>
              <a:t>식사나 카페 이용 영수증을 반드시 챙겨 추가적인 주차 할인 혜택을 놓치지 않는 꼼꼼한 경제 활동</a:t>
            </a:r>
          </a:p>
          <a:p>
            <a:pPr lvl="0"/>
            <a:r>
              <a:rPr b="1"/>
              <a:t>주말이나 공휴일의 극심한 혼잡을 고려하여 입차 시간을 앞당기거나 대중교통 이용을 우선적으로 고려</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19] 교통 및 안전 정보: 크리스마스 이브 주의사항</a:t>
            </a:r>
          </a:p>
        </p:txBody>
      </p:sp>
      <p:sp>
        <p:nvSpPr>
          <p:cNvPr id="3" name="Content Placeholder 2"/>
          <p:cNvSpPr>
            <a:spLocks noGrp="1"/>
          </p:cNvSpPr>
          <p:nvPr>
            <p:ph idx="1"/>
          </p:nvPr>
        </p:nvSpPr>
        <p:spPr/>
        <p:txBody>
          <a:bodyPr/>
          <a:lstStyle/>
          <a:p>
            <a:pPr lvl="0" indent="0" marL="0">
              <a:buNone/>
            </a:pPr>
            <a:r>
              <a:rPr/>
              <a:t>크리스마스 이브(12/24)에는 인파 사고 방지를 위해 명동 노점상이 전면 휴업합니다. 또한 성당 인근 주차장은 매우 협소하므로 대중교통 이용이 필수적입니다. 지하철 4호선 회현역이나 2호선 을지로입구역을 이용하면 미디어파사드 명당이나 쇼핑가에 빠르게 접근할 수 있습니다.</a:t>
            </a:r>
          </a:p>
          <a:p>
            <a:pPr lvl="0" indent="0" marL="0">
              <a:buNone/>
            </a:pPr>
            <a:r>
              <a:rPr b="1"/>
              <a:t>[시각화: 주요 역별 접근성]</a:t>
            </a:r>
            <a:r>
              <a:rPr/>
              <a:t> - 회현역 7번 출구: 신세계 미디어파사드 (최단 거리) - 명동역 8번 출구: 위글위글집, 메인 스트리트 (쇼핑 중심) - 을지로입구역 7번 출구: 롯데백화점, 그라운드시소 (문화/예술)</a:t>
            </a:r>
          </a:p>
          <a:p>
            <a:pPr lvl="0"/>
            <a:r>
              <a:rPr b="1"/>
              <a:t>12월 24일 노점상 휴업 정보를 미리 파악하여 길거리 음식을 기대했다가 낭패를 보는 상황을 방지함</a:t>
            </a:r>
          </a:p>
          <a:p>
            <a:pPr lvl="0"/>
            <a:r>
              <a:rPr b="1"/>
              <a:t>이태원 참사 이후 강화된 중구청의 인파 관리 대책에 적극 협조하며 안전하고 질서 있는 관람 유지</a:t>
            </a:r>
          </a:p>
          <a:p>
            <a:pPr lvl="0"/>
            <a:r>
              <a:rPr b="1"/>
              <a:t>회현역 7번 출구를 통해 미디어파사드 관람 명당으로 가장 빠르게 접근하는 효율적인 이동 경로 확보</a:t>
            </a:r>
          </a:p>
          <a:p>
            <a:pPr lvl="0"/>
            <a:r>
              <a:rPr b="1"/>
              <a:t>지하철 호선별 특징을 파악하여 목적지에 가장 가까운 출구 번호를 숙지하고 불필요한 보행을 줄임</a:t>
            </a:r>
          </a:p>
          <a:p>
            <a:pPr lvl="0"/>
            <a:r>
              <a:rPr b="1"/>
              <a:t>혼잡한 인파 속에서 소지품 관리에 유의하며 비상시 대피로와 안전 요원의 위치를 상시 확인하는 태도</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20] 여행 마무리: 요약 및 맺음말</a:t>
            </a:r>
          </a:p>
        </p:txBody>
      </p:sp>
      <p:sp>
        <p:nvSpPr>
          <p:cNvPr id="3" name="Content Placeholder 2"/>
          <p:cNvSpPr>
            <a:spLocks noGrp="1"/>
          </p:cNvSpPr>
          <p:nvPr>
            <p:ph idx="1"/>
          </p:nvPr>
        </p:nvSpPr>
        <p:spPr/>
        <p:txBody>
          <a:bodyPr/>
          <a:lstStyle/>
          <a:p>
            <a:pPr lvl="0" indent="0" marL="0">
              <a:buNone/>
            </a:pPr>
            <a:r>
              <a:rPr/>
              <a:t>오전 11시부터 시작된 명동 여행은 미디어파사드 관람이 끝나는 오후 6시 30분경 마무리됩니다. 이번 코스는 </a:t>
            </a:r>
            <a:r>
              <a:rPr b="1"/>
              <a:t>‘30분의 법칙’</a:t>
            </a:r>
            <a:r>
              <a:rPr/>
              <a:t>을 적용하여 명동의 미식, 쇼핑, 예술, 역사를 압축적으로 경험하도록 설계되었습니다. 짧은 시간이지만 각 스팟의 핵심을 찌르는 방문을 통해 서울 도심의 진한 풍미를 느끼셨기를 바랍니다.</a:t>
            </a:r>
          </a:p>
          <a:p>
            <a:pPr lvl="0" indent="0" marL="0">
              <a:buNone/>
            </a:pPr>
            <a:r>
              <a:rPr b="1"/>
              <a:t>[시각화: 전체 여정 요약 지도]</a:t>
            </a:r>
            <a:r>
              <a:rPr/>
              <a:t> 11:00 그라운드시소 → 12:00 롯데 타운 → 12:30 길거리 음식(식사) → 14:00 위글위글/말똥카니발 → 15:30 신라 스타벅스 → 16:00 명동대성당 → 17:00 신세계 미디어파사드 → 18:30 종료</a:t>
            </a:r>
          </a:p>
          <a:p>
            <a:pPr lvl="0"/>
            <a:r>
              <a:rPr b="1"/>
              <a:t>예술 전시로 시작해 역사적 성당을 거쳐 화려한 빛의 쇼로 끝맺는 기승전결이 확실한 투어의 완결</a:t>
            </a:r>
          </a:p>
          <a:p>
            <a:pPr lvl="0"/>
            <a:r>
              <a:rPr b="1"/>
              <a:t>길거리 음식 9선 중 본인이 선택한 베스트 메뉴를 되짚어보며 미식 여행의 즐거웠던 기억을 공유함</a:t>
            </a:r>
          </a:p>
          <a:p>
            <a:pPr lvl="0"/>
            <a:r>
              <a:rPr b="1"/>
              <a:t>효율적인 시간 배분과 동선 관리를 통해 체력 소모는 줄이고 경험의 밀도는 높인 성공적인 도심 투어</a:t>
            </a:r>
          </a:p>
          <a:p>
            <a:pPr lvl="0"/>
            <a:r>
              <a:rPr b="1"/>
              <a:t>가이드에 수록된 주차 및 안전 수칙을 준수하여 사고 없이 쾌적하게 여행을 마친 것에 대한 만족감</a:t>
            </a:r>
          </a:p>
          <a:p>
            <a:pPr lvl="0"/>
            <a:r>
              <a:rPr b="1"/>
              <a:t>계절마다 변하는 명동의 매력을 다시 느끼기 위해 다음 시즌의 여행 계획을 구상하며 여정을 마무리함</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비고:</a:t>
            </a:r>
            <a:r>
              <a:rPr/>
              <a:t> 위 내용은 제공된 소스(명동 길거리 음식, 놀거리 BEST 5, 미디어파사드 가이드, 주차 가이드, 성당 공지 등)와 대화 기록을 바탕으로 작성되었으며, 장충동 스타벅스 이동 등 일부 외부 정보가 포함되어 있으므로 실제 방문 시 재확인이 필요할 수 있습니다.</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2025-12-24T06:19:33Z</dcterms:created>
  <dcterms:modified xsi:type="dcterms:W3CDTF">2025-12-24T06:19:33Z</dcterms:modified>
</cp:coreProperties>
</file>

<file path=docProps/custom.xml><?xml version="1.0" encoding="utf-8"?>
<Properties xmlns="http://schemas.openxmlformats.org/officeDocument/2006/custom-properties" xmlns:vt="http://schemas.openxmlformats.org/officeDocument/2006/docPropsVTypes"/>
</file>